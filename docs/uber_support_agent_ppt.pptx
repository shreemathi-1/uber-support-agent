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"/>
          <p:cNvSpPr txBox="1"/>
          <p:nvPr/>
        </p:nvSpPr>
        <p:spPr>
          <a:xfrm>
            <a:off x="10561319" y="404114"/>
            <a:ext cx="1234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500">
                <a:solidFill>
                  <a:srgbClr val="0B0B0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hiver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516855" y="629573"/>
            <a:ext cx="7315201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3000">
                <a:solidFill>
                  <a:srgbClr val="F2A91D"/>
                </a:solidFill>
              </a:defRPr>
            </a:lvl1pPr>
          </a:lstStyle>
          <a:p>
            <a:pPr/>
            <a:r>
              <a:t>UBER SUPPORT AI AGENT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548640" y="1160343"/>
            <a:ext cx="8686801" cy="97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just">
              <a:defRPr sz="1600">
                <a:solidFill>
                  <a:srgbClr val="A7A7A7"/>
                </a:solidFill>
              </a:defRPr>
            </a:pPr>
            <a:r>
              <a:t>An AI customer-support agent for “Uber_Support”, built from the Kaggle "Customer Support on</a:t>
            </a:r>
          </a:p>
          <a:p>
            <a:pPr algn="just">
              <a:defRPr sz="1600">
                <a:solidFill>
                  <a:srgbClr val="A7A7A7"/>
                </a:solidFill>
              </a:defRPr>
            </a:pPr>
            <a:r>
              <a:t>Twitter" dataset. Classifies each message, drafts a reply grounded in Uber's historical replies</a:t>
            </a:r>
          </a:p>
          <a:p>
            <a:pPr algn="just">
              <a:defRPr sz="1600">
                <a:solidFill>
                  <a:srgbClr val="A7A7A7"/>
                </a:solidFill>
              </a:defRPr>
            </a:pPr>
            <a:r>
              <a:t>and help-centre articles, and decides auto-handle vs escalate with a stated reason.</a:t>
            </a:r>
          </a:p>
        </p:txBody>
      </p:sp>
      <p:sp>
        <p:nvSpPr>
          <p:cNvPr id="23" name="Shape 4"/>
          <p:cNvSpPr/>
          <p:nvPr/>
        </p:nvSpPr>
        <p:spPr>
          <a:xfrm>
            <a:off x="548639" y="2514600"/>
            <a:ext cx="9326881" cy="0"/>
          </a:xfrm>
          <a:prstGeom prst="line">
            <a:avLst/>
          </a:prstGeom>
          <a:ln w="12700">
            <a:solidFill>
              <a:srgbClr val="2A2A3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5"/>
          <p:cNvSpPr txBox="1"/>
          <p:nvPr/>
        </p:nvSpPr>
        <p:spPr>
          <a:xfrm>
            <a:off x="548639" y="2787081"/>
            <a:ext cx="493776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4" sz="1500">
                <a:solidFill>
                  <a:srgbClr val="F2A93B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548639" y="3121578"/>
            <a:ext cx="4937762" cy="101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9C9CE"/>
                </a:solidFill>
              </a:defRPr>
            </a:lvl1pPr>
          </a:lstStyle>
          <a:p>
            <a:pPr/>
            <a:r>
              <a:t>Real, noisy Twitter support conversations. Build an agent that classifies each message, drafts a reply grounded in how the brand historically resolved similar issues, and decides auto-handle vs. escalate - with a stated reason.</a:t>
            </a:r>
          </a:p>
        </p:txBody>
      </p:sp>
      <p:sp>
        <p:nvSpPr>
          <p:cNvPr id="26" name="Text 7"/>
          <p:cNvSpPr txBox="1"/>
          <p:nvPr/>
        </p:nvSpPr>
        <p:spPr>
          <a:xfrm>
            <a:off x="5806440" y="2787081"/>
            <a:ext cx="49377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4" sz="1500">
                <a:solidFill>
                  <a:srgbClr val="F2A93B"/>
                </a:solidFill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5806440" y="3121578"/>
            <a:ext cx="4937761" cy="101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9C9CE"/>
                </a:solidFill>
              </a:defRPr>
            </a:lvl1pPr>
          </a:lstStyle>
          <a:p>
            <a:pPr/>
            <a:r>
              <a:t>A fixed 7-step pipeline — enrich → rules → retrieve → draft → check → persist → respond. The LLM reads the message; deterministic rules decide where it goes. Not an agent loop: there are no side-effect tools to choose between.</a:t>
            </a:r>
          </a:p>
        </p:txBody>
      </p:sp>
      <p:sp>
        <p:nvSpPr>
          <p:cNvPr id="28" name="Shape 9"/>
          <p:cNvSpPr/>
          <p:nvPr/>
        </p:nvSpPr>
        <p:spPr>
          <a:xfrm>
            <a:off x="548640" y="4343400"/>
            <a:ext cx="10149841" cy="868681"/>
          </a:xfrm>
          <a:prstGeom prst="roundRect">
            <a:avLst>
              <a:gd name="adj" fmla="val 8421"/>
            </a:avLst>
          </a:prstGeom>
          <a:solidFill>
            <a:srgbClr val="17171C"/>
          </a:solidFill>
          <a:ln w="12700">
            <a:solidFill>
              <a:srgbClr val="2A2A3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0"/>
          <p:cNvSpPr txBox="1"/>
          <p:nvPr/>
        </p:nvSpPr>
        <p:spPr>
          <a:xfrm>
            <a:off x="822960" y="4549824"/>
            <a:ext cx="9601201" cy="455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300">
                <a:solidFill>
                  <a:srgbClr val="F2A93B"/>
                </a:solidFill>
              </a:defRPr>
            </a:pPr>
            <a:r>
              <a:rPr sz="1400"/>
              <a:t>Key finding - </a:t>
            </a:r>
            <a:r>
              <a:rPr b="0" sz="1400">
                <a:solidFill>
                  <a:srgbClr val="D8D8DC"/>
                </a:solidFill>
              </a:rPr>
              <a:t>Uber’s Twitter team is a triage desk, not a resolution channel. Only 13.6% of replies are informative; the rest deflect (“send us a DM”). This shaped every downstream design choice.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548639" y="5504303"/>
            <a:ext cx="2468882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150</a:t>
            </a:r>
          </a:p>
        </p:txBody>
      </p:sp>
      <p:sp>
        <p:nvSpPr>
          <p:cNvPr id="31" name="Text 12"/>
          <p:cNvSpPr txBox="1"/>
          <p:nvPr/>
        </p:nvSpPr>
        <p:spPr>
          <a:xfrm>
            <a:off x="548639" y="5856987"/>
            <a:ext cx="24688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9A9AA2"/>
                </a:solidFill>
              </a:defRPr>
            </a:lvl1pPr>
          </a:lstStyle>
          <a:p>
            <a:pPr/>
            <a:r>
              <a:t>hand-labelled golden rows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3136392" y="5504303"/>
            <a:ext cx="2468881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3136392" y="5856987"/>
            <a:ext cx="24688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9A9AA2"/>
                </a:solidFill>
              </a:defRPr>
            </a:lvl1pPr>
          </a:lstStyle>
          <a:p>
            <a:pPr/>
            <a:r>
              <a:t>fixed pipeline steps</a:t>
            </a:r>
          </a:p>
        </p:txBody>
      </p:sp>
      <p:sp>
        <p:nvSpPr>
          <p:cNvPr id="34" name="Text 15"/>
          <p:cNvSpPr txBox="1"/>
          <p:nvPr/>
        </p:nvSpPr>
        <p:spPr>
          <a:xfrm>
            <a:off x="5724143" y="5504303"/>
            <a:ext cx="2468882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35" name="Text 16"/>
          <p:cNvSpPr txBox="1"/>
          <p:nvPr/>
        </p:nvSpPr>
        <p:spPr>
          <a:xfrm>
            <a:off x="5724143" y="5856987"/>
            <a:ext cx="24688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9A9AA2"/>
                </a:solidFill>
              </a:defRPr>
            </a:lvl1pPr>
          </a:lstStyle>
          <a:p>
            <a:pPr/>
            <a:r>
              <a:t>tests, ~2s, zero network</a:t>
            </a:r>
          </a:p>
        </p:txBody>
      </p:sp>
      <p:sp>
        <p:nvSpPr>
          <p:cNvPr id="36" name="Text 17"/>
          <p:cNvSpPr txBox="1"/>
          <p:nvPr/>
        </p:nvSpPr>
        <p:spPr>
          <a:xfrm>
            <a:off x="8311895" y="5504303"/>
            <a:ext cx="2468881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&lt;15 min</a:t>
            </a:r>
          </a:p>
        </p:txBody>
      </p:sp>
      <p:sp>
        <p:nvSpPr>
          <p:cNvPr id="37" name="Text 18"/>
          <p:cNvSpPr txBox="1"/>
          <p:nvPr/>
        </p:nvSpPr>
        <p:spPr>
          <a:xfrm>
            <a:off x="8311895" y="5856987"/>
            <a:ext cx="24688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9A9AA2"/>
                </a:solidFill>
              </a:defRPr>
            </a:lvl1pPr>
          </a:lstStyle>
          <a:p>
            <a:pPr/>
            <a:r>
              <a:t>reproduce, no API keys</a:t>
            </a:r>
          </a:p>
        </p:txBody>
      </p:sp>
      <p:pic>
        <p:nvPicPr>
          <p:cNvPr id="3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2998" y="340614"/>
            <a:ext cx="851084" cy="342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1"/>
          <p:cNvSpPr txBox="1"/>
          <p:nvPr/>
        </p:nvSpPr>
        <p:spPr>
          <a:xfrm>
            <a:off x="10561319" y="404114"/>
            <a:ext cx="1234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hiver</a:t>
            </a:r>
          </a:p>
        </p:txBody>
      </p:sp>
      <p:sp>
        <p:nvSpPr>
          <p:cNvPr id="41" name="Text 3"/>
          <p:cNvSpPr txBox="1"/>
          <p:nvPr/>
        </p:nvSpPr>
        <p:spPr>
          <a:xfrm>
            <a:off x="561721" y="146297"/>
            <a:ext cx="8229601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6161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Architecture, request flow &amp; stack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6383009" y="4217692"/>
            <a:ext cx="36576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F2A93B"/>
                </a:solidFill>
              </a:defRPr>
            </a:lvl1pPr>
          </a:lstStyle>
          <a:p>
            <a:pPr/>
            <a:r>
              <a:t>TECH STACK</a:t>
            </a:r>
          </a:p>
        </p:txBody>
      </p:sp>
      <p:graphicFrame>
        <p:nvGraphicFramePr>
          <p:cNvPr id="43" name="Table 0"/>
          <p:cNvGraphicFramePr/>
          <p:nvPr/>
        </p:nvGraphicFramePr>
        <p:xfrm>
          <a:off x="6383009" y="4459963"/>
          <a:ext cx="5394960" cy="197510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00200"/>
                <a:gridCol w="3794759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solidFill>
                      <a:srgbClr val="0B0B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LLM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Groq gpt-oss-120b / 20b — free tier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Judge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Gemini 3.5 Flash-Lite — eval only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Embeddings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MiniLM-L6-v2, local CPU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Storage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SQLite + ChromaDB, local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API / UI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FastAPI, React + Vite + Tailwind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2997" y="340614"/>
            <a:ext cx="851084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hld_architecture_v2.png" descr="hld_architecture_v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857" y="721852"/>
            <a:ext cx="4133166" cy="401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offline_data_pipeline_v2.png" descr="offline_data_pipeline_v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11590" y="621479"/>
            <a:ext cx="4506837" cy="3221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request_flow_v2.png" descr="request_flow_v2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77292" y="708749"/>
            <a:ext cx="2704484" cy="30465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3"/>
          <p:cNvSpPr txBox="1"/>
          <p:nvPr/>
        </p:nvSpPr>
        <p:spPr>
          <a:xfrm>
            <a:off x="464893" y="545732"/>
            <a:ext cx="8229601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6161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rules decide; the model reads</a:t>
            </a:r>
          </a:p>
        </p:txBody>
      </p:sp>
      <p:sp>
        <p:nvSpPr>
          <p:cNvPr id="50" name="Text 4"/>
          <p:cNvSpPr txBox="1"/>
          <p:nvPr/>
        </p:nvSpPr>
        <p:spPr>
          <a:xfrm>
            <a:off x="499878" y="971980"/>
            <a:ext cx="5492484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F2A93B"/>
                </a:solidFill>
              </a:defRPr>
            </a:lvl1pPr>
          </a:lstStyle>
          <a:p>
            <a:pPr/>
            <a:r>
              <a:t>ESCALATION RULE TABLE - first match wins, reason = rule name</a:t>
            </a:r>
          </a:p>
        </p:txBody>
      </p:sp>
      <p:graphicFrame>
        <p:nvGraphicFramePr>
          <p:cNvPr id="51" name="Table 0"/>
          <p:cNvGraphicFramePr/>
          <p:nvPr/>
        </p:nvGraphicFramePr>
        <p:xfrm>
          <a:off x="548640" y="1536191"/>
          <a:ext cx="5394960" cy="24140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57200"/>
                <a:gridCol w="2103120"/>
                <a:gridCol w="283464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Fires when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solidFill>
                      <a:srgbClr val="0B0B0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safety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mentions_safety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legal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mentions_legal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amount_over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amount &gt; $10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4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urgent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urgency = high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5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repeat_contact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is_repeat_contact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low_confidence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confidence &lt; 0.7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7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not_allowed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61B"/>
                          </a:solidFill>
                        </a:rPr>
                        <a:t>intent not on allow-list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E4E3DE"/>
                      </a:solidFill>
                    </a:lnL>
                    <a:lnR>
                      <a:solidFill>
                        <a:srgbClr val="E4E3DE"/>
                      </a:solidFill>
                    </a:lnR>
                    <a:lnT>
                      <a:solidFill>
                        <a:srgbClr val="E4E3DE"/>
                      </a:solidFill>
                    </a:lnT>
                    <a:lnB>
                      <a:solidFill>
                        <a:srgbClr val="E4E3D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" name="Text 5"/>
          <p:cNvSpPr txBox="1"/>
          <p:nvPr/>
        </p:nvSpPr>
        <p:spPr>
          <a:xfrm>
            <a:off x="6619720" y="923694"/>
            <a:ext cx="4572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F2A93B"/>
                </a:solidFill>
              </a:defRPr>
            </a:lvl1pPr>
          </a:lstStyle>
          <a:p>
            <a:pPr/>
            <a:r>
              <a:t>DESIGN PRINCIPLES</a:t>
            </a:r>
          </a:p>
        </p:txBody>
      </p:sp>
      <p:sp>
        <p:nvSpPr>
          <p:cNvPr id="53" name="Shape 6"/>
          <p:cNvSpPr/>
          <p:nvPr/>
        </p:nvSpPr>
        <p:spPr>
          <a:xfrm>
            <a:off x="6619720" y="1229439"/>
            <a:ext cx="45721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54" name="Text 7"/>
          <p:cNvSpPr txBox="1"/>
          <p:nvPr/>
        </p:nvSpPr>
        <p:spPr>
          <a:xfrm>
            <a:off x="6756880" y="1235343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6161B"/>
                </a:solidFill>
              </a:defRPr>
            </a:lvl1pPr>
          </a:lstStyle>
          <a:p>
            <a:pPr/>
            <a:r>
              <a:t>Fixed pipeline, not an agent loop</a:t>
            </a:r>
          </a:p>
        </p:txBody>
      </p:sp>
      <p:sp>
        <p:nvSpPr>
          <p:cNvPr id="55" name="Text 8"/>
          <p:cNvSpPr txBox="1"/>
          <p:nvPr/>
        </p:nvSpPr>
        <p:spPr>
          <a:xfrm>
            <a:off x="6756880" y="1495992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6B6B76"/>
                </a:solidFill>
              </a:defRPr>
            </a:lvl1pPr>
          </a:lstStyle>
          <a:p>
            <a:pPr/>
            <a:r>
              <a:t>No side-effect tools to choose between.</a:t>
            </a:r>
          </a:p>
        </p:txBody>
      </p:sp>
      <p:sp>
        <p:nvSpPr>
          <p:cNvPr id="56" name="Shape 9"/>
          <p:cNvSpPr/>
          <p:nvPr/>
        </p:nvSpPr>
        <p:spPr>
          <a:xfrm>
            <a:off x="6619720" y="1887807"/>
            <a:ext cx="45721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57" name="Text 10"/>
          <p:cNvSpPr txBox="1"/>
          <p:nvPr/>
        </p:nvSpPr>
        <p:spPr>
          <a:xfrm>
            <a:off x="6756880" y="1893711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6161B"/>
                </a:solidFill>
              </a:defRPr>
            </a:lvl1pPr>
          </a:lstStyle>
          <a:p>
            <a:pPr/>
            <a:r>
              <a:t>Rules run before retrieval</a:t>
            </a:r>
          </a:p>
        </p:txBody>
      </p:sp>
      <p:sp>
        <p:nvSpPr>
          <p:cNvPr id="58" name="Text 11"/>
          <p:cNvSpPr txBox="1"/>
          <p:nvPr/>
        </p:nvSpPr>
        <p:spPr>
          <a:xfrm>
            <a:off x="6756880" y="2158887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6B6B76"/>
                </a:solidFill>
              </a:defRPr>
            </a:lvl1pPr>
          </a:lstStyle>
          <a:p>
            <a:pPr/>
            <a:r>
              <a:t>An escalated message costs one LLM call, not three.</a:t>
            </a:r>
          </a:p>
        </p:txBody>
      </p:sp>
      <p:sp>
        <p:nvSpPr>
          <p:cNvPr id="59" name="Shape 12"/>
          <p:cNvSpPr/>
          <p:nvPr/>
        </p:nvSpPr>
        <p:spPr>
          <a:xfrm>
            <a:off x="6619720" y="2546175"/>
            <a:ext cx="45721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60" name="Text 13"/>
          <p:cNvSpPr txBox="1"/>
          <p:nvPr/>
        </p:nvSpPr>
        <p:spPr>
          <a:xfrm>
            <a:off x="6756880" y="2552079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6161B"/>
                </a:solidFill>
              </a:defRPr>
            </a:lvl1pPr>
          </a:lstStyle>
          <a:p>
            <a:pPr/>
            <a:r>
              <a:t>One enrich call</a:t>
            </a:r>
          </a:p>
        </p:txBody>
      </p:sp>
      <p:sp>
        <p:nvSpPr>
          <p:cNvPr id="61" name="Text 14"/>
          <p:cNvSpPr txBox="1"/>
          <p:nvPr/>
        </p:nvSpPr>
        <p:spPr>
          <a:xfrm>
            <a:off x="6756880" y="2688754"/>
            <a:ext cx="4297680" cy="446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6B6B76"/>
                </a:solidFill>
              </a:defRPr>
            </a:lvl1pPr>
          </a:lstStyle>
          <a:p>
            <a:pPr/>
            <a:r>
              <a:t>Intent + sentiment + urgency + entities, same read of the message.</a:t>
            </a:r>
          </a:p>
        </p:txBody>
      </p:sp>
      <p:sp>
        <p:nvSpPr>
          <p:cNvPr id="62" name="Shape 15"/>
          <p:cNvSpPr/>
          <p:nvPr/>
        </p:nvSpPr>
        <p:spPr>
          <a:xfrm>
            <a:off x="6619720" y="3204543"/>
            <a:ext cx="45721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63" name="Text 16"/>
          <p:cNvSpPr txBox="1"/>
          <p:nvPr/>
        </p:nvSpPr>
        <p:spPr>
          <a:xfrm>
            <a:off x="6756880" y="3210448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6161B"/>
                </a:solidFill>
              </a:defRPr>
            </a:lvl1pPr>
          </a:lstStyle>
          <a:p>
            <a:pPr/>
            <a:r>
              <a:t>Everything local &amp; cached</a:t>
            </a:r>
          </a:p>
        </p:txBody>
      </p:sp>
      <p:sp>
        <p:nvSpPr>
          <p:cNvPr id="64" name="Text 17"/>
          <p:cNvSpPr txBox="1"/>
          <p:nvPr/>
        </p:nvSpPr>
        <p:spPr>
          <a:xfrm>
            <a:off x="6756880" y="3475624"/>
            <a:ext cx="4297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6B6B76"/>
                </a:solidFill>
              </a:defRPr>
            </a:lvl1pPr>
          </a:lstStyle>
          <a:p>
            <a:pPr/>
            <a:r>
              <a:t>Deterministic, 15-minute reproduction, zero API keys.</a:t>
            </a:r>
          </a:p>
        </p:txBody>
      </p:sp>
      <p:sp>
        <p:nvSpPr>
          <p:cNvPr id="65" name="Shape 18"/>
          <p:cNvSpPr/>
          <p:nvPr/>
        </p:nvSpPr>
        <p:spPr>
          <a:xfrm>
            <a:off x="548640" y="4060171"/>
            <a:ext cx="5394960" cy="2527011"/>
          </a:xfrm>
          <a:prstGeom prst="roundRect">
            <a:avLst>
              <a:gd name="adj" fmla="val 2171"/>
            </a:avLst>
          </a:prstGeom>
          <a:solidFill>
            <a:srgbClr val="F6F5F1"/>
          </a:solidFill>
          <a:ln>
            <a:solidFill>
              <a:srgbClr val="E4E3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9"/>
          <p:cNvSpPr txBox="1"/>
          <p:nvPr/>
        </p:nvSpPr>
        <p:spPr>
          <a:xfrm>
            <a:off x="777239" y="4183959"/>
            <a:ext cx="493776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F2A93B"/>
                </a:solidFill>
              </a:defRPr>
            </a:lvl1pPr>
          </a:lstStyle>
          <a:p>
            <a:pPr/>
            <a:r>
              <a:t>WORKED EXAMPLE — SAFETY ESCALATION</a:t>
            </a:r>
          </a:p>
        </p:txBody>
      </p:sp>
      <p:sp>
        <p:nvSpPr>
          <p:cNvPr id="67" name="Text 20"/>
          <p:cNvSpPr txBox="1"/>
          <p:nvPr/>
        </p:nvSpPr>
        <p:spPr>
          <a:xfrm>
            <a:off x="777239" y="4497763"/>
            <a:ext cx="49377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300">
                <a:solidFill>
                  <a:srgbClr val="16161B"/>
                </a:solidFill>
              </a:defRPr>
            </a:lvl1pPr>
          </a:lstStyle>
          <a:p>
            <a:pPr/>
            <a:r>
              <a:t>“My driver was drunk and swerving”</a:t>
            </a:r>
          </a:p>
        </p:txBody>
      </p:sp>
      <p:sp>
        <p:nvSpPr>
          <p:cNvPr id="68" name="Text 21"/>
          <p:cNvSpPr txBox="1"/>
          <p:nvPr/>
        </p:nvSpPr>
        <p:spPr>
          <a:xfrm>
            <a:off x="777239" y="5140733"/>
            <a:ext cx="4937762" cy="54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A3D4A"/>
                </a:solidFill>
              </a:defRPr>
            </a:lvl1pPr>
          </a:lstStyle>
          <a:p>
            <a:pPr/>
            <a:r>
              <a:t>Enrich sets mentions_safety = true → rule 1 fires immediately → escalated with reason “safety”. The draft step never runs — the trace shows the pipeline stopping before it, not a policy the model chose to follow.</a:t>
            </a:r>
          </a:p>
        </p:txBody>
      </p:sp>
      <p:sp>
        <p:nvSpPr>
          <p:cNvPr id="69" name="Shape 22"/>
          <p:cNvSpPr/>
          <p:nvPr/>
        </p:nvSpPr>
        <p:spPr>
          <a:xfrm>
            <a:off x="6263640" y="4164898"/>
            <a:ext cx="5277811" cy="2414017"/>
          </a:xfrm>
          <a:prstGeom prst="roundRect">
            <a:avLst>
              <a:gd name="adj" fmla="val 2273"/>
            </a:avLst>
          </a:prstGeom>
          <a:solidFill>
            <a:srgbClr val="FCEEDA"/>
          </a:solidFill>
          <a:ln>
            <a:solidFill>
              <a:srgbClr val="E9C9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23"/>
          <p:cNvSpPr txBox="1"/>
          <p:nvPr/>
        </p:nvSpPr>
        <p:spPr>
          <a:xfrm>
            <a:off x="6254958" y="3883933"/>
            <a:ext cx="39776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8A5A0F"/>
                </a:solidFill>
              </a:defRPr>
            </a:lvl1pPr>
          </a:lstStyle>
          <a:p>
            <a:pPr/>
            <a:r>
              <a:t>HANDLED MID-PROJECT</a:t>
            </a:r>
          </a:p>
        </p:txBody>
      </p:sp>
      <p:sp>
        <p:nvSpPr>
          <p:cNvPr id="71" name="Text 24"/>
          <p:cNvSpPr txBox="1"/>
          <p:nvPr/>
        </p:nvSpPr>
        <p:spPr>
          <a:xfrm>
            <a:off x="6478282" y="4263207"/>
            <a:ext cx="3977641" cy="212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5A3E0A"/>
                </a:solidFill>
              </a:defRPr>
            </a:pPr>
            <a:r>
              <a:t>Groq deprecated the Llama models mid-build — migrated to GPT-OSS 120B/20B in two lines because model IDs are env-driven.</a:t>
            </a:r>
          </a:p>
          <a:p>
            <a:pPr>
              <a:lnSpc>
                <a:spcPct val="125000"/>
              </a:lnSpc>
              <a:defRPr sz="1400"/>
            </a:pPr>
          </a:p>
          <a:p>
            <a:pPr>
              <a:lnSpc>
                <a:spcPct val="125000"/>
              </a:lnSpc>
              <a:defRPr sz="1400">
                <a:solidFill>
                  <a:srgbClr val="5A3E0A"/>
                </a:solidFill>
              </a:defRPr>
            </a:pPr>
            <a:r>
              <a:t>An early draft config returned empty replies that a checker wrongly passed as safe — fixed by rejecting empty drafts before any LLM call and never caching them.</a:t>
            </a:r>
          </a:p>
        </p:txBody>
      </p:sp>
      <p:pic>
        <p:nvPicPr>
          <p:cNvPr id="7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2997" y="340614"/>
            <a:ext cx="851084" cy="342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1"/>
          <p:cNvSpPr txBox="1"/>
          <p:nvPr/>
        </p:nvSpPr>
        <p:spPr>
          <a:xfrm>
            <a:off x="10561319" y="404114"/>
            <a:ext cx="1234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500">
                <a:solidFill>
                  <a:srgbClr val="0B0B0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hiver</a:t>
            </a:r>
          </a:p>
        </p:txBody>
      </p:sp>
      <p:sp>
        <p:nvSpPr>
          <p:cNvPr id="75" name="Text 3"/>
          <p:cNvSpPr txBox="1"/>
          <p:nvPr/>
        </p:nvSpPr>
        <p:spPr>
          <a:xfrm>
            <a:off x="548640" y="685416"/>
            <a:ext cx="8229601" cy="32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Evaluation &amp; key insights</a:t>
            </a:r>
          </a:p>
        </p:txBody>
      </p:sp>
      <p:sp>
        <p:nvSpPr>
          <p:cNvPr id="76" name="Text 7"/>
          <p:cNvSpPr txBox="1"/>
          <p:nvPr/>
        </p:nvSpPr>
        <p:spPr>
          <a:xfrm>
            <a:off x="486133" y="1370970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F2A93B"/>
                </a:solidFill>
              </a:defRPr>
            </a:lvl1pPr>
          </a:lstStyle>
          <a:p>
            <a:pPr/>
            <a:r>
              <a:t>HEADLINE METRICS</a:t>
            </a:r>
          </a:p>
        </p:txBody>
      </p:sp>
      <p:graphicFrame>
        <p:nvGraphicFramePr>
          <p:cNvPr id="77" name="Table 0"/>
          <p:cNvGraphicFramePr/>
          <p:nvPr/>
        </p:nvGraphicFramePr>
        <p:xfrm>
          <a:off x="486133" y="1858896"/>
          <a:ext cx="5394960" cy="16459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65760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0B0B0F"/>
                          </a:solidFill>
                        </a:rPr>
                        <a:t>Metric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0B0B0F"/>
                          </a:solidFill>
                        </a:rPr>
                        <a:t>Value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F2A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Intent macro-F1 (ours vs. baselines)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90%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Escalation recall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90%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Judge vs. human kappa (40 rows)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89%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Labeller A vs. B kappa (50 rows)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90%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2A2A30"/>
                      </a:solidFill>
                    </a:lnL>
                    <a:lnR>
                      <a:solidFill>
                        <a:srgbClr val="2A2A30"/>
                      </a:solidFill>
                    </a:lnR>
                    <a:lnT>
                      <a:solidFill>
                        <a:srgbClr val="2A2A30"/>
                      </a:solidFill>
                    </a:lnT>
                    <a:lnB>
                      <a:solidFill>
                        <a:srgbClr val="2A2A30"/>
                      </a:solidFill>
                    </a:lnB>
                    <a:solidFill>
                      <a:srgbClr val="17171C"/>
                    </a:solidFill>
                  </a:tcPr>
                </a:tc>
              </a:tr>
            </a:tbl>
          </a:graphicData>
        </a:graphic>
      </p:graphicFrame>
      <p:sp>
        <p:nvSpPr>
          <p:cNvPr id="78" name="Text 8"/>
          <p:cNvSpPr txBox="1"/>
          <p:nvPr/>
        </p:nvSpPr>
        <p:spPr>
          <a:xfrm>
            <a:off x="486132" y="4201750"/>
            <a:ext cx="5394962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F2A93B"/>
                </a:solidFill>
              </a:defRPr>
            </a:lvl1pPr>
          </a:lstStyle>
          <a:p>
            <a:pPr/>
            <a:r>
              <a:t>TOP FAILURE MODES — found, understood, next fix identified</a:t>
            </a:r>
          </a:p>
        </p:txBody>
      </p:sp>
      <p:sp>
        <p:nvSpPr>
          <p:cNvPr id="79" name="Text 9"/>
          <p:cNvSpPr txBox="1"/>
          <p:nvPr/>
        </p:nvSpPr>
        <p:spPr>
          <a:xfrm>
            <a:off x="486132" y="4979240"/>
            <a:ext cx="5394962" cy="101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b="1" sz="1400">
                <a:solidFill>
                  <a:srgbClr val="FFFFFF"/>
                </a:solidFill>
              </a:defRPr>
            </a:pPr>
            <a:r>
              <a:t>• Misdirected payouts &amp; hacked accounts </a:t>
            </a:r>
            <a:r>
              <a:rPr b="0">
                <a:solidFill>
                  <a:srgbClr val="C9C9CE"/>
                </a:solidFill>
              </a:rPr>
              <a:t>currently auto-handle when they should escalate — next fix: a mentions_account_compromise rule.</a:t>
            </a:r>
            <a:endParaRPr b="0">
              <a:solidFill>
                <a:srgbClr val="C9C9CE"/>
              </a:solidFill>
            </a:endParaRPr>
          </a:p>
          <a:p>
            <a:pPr>
              <a:lnSpc>
                <a:spcPct val="125000"/>
              </a:lnSpc>
              <a:defRPr b="1" sz="1400">
                <a:solidFill>
                  <a:srgbClr val="FFFFFF"/>
                </a:solidFill>
              </a:defRPr>
            </a:pPr>
            <a:r>
              <a:t>• Confidence is uncalibrated </a:t>
            </a:r>
            <a:r>
              <a:rPr b="0">
                <a:solidFill>
                  <a:srgbClr val="C9C9CE"/>
                </a:solidFill>
              </a:rPr>
              <a:t>(clusters 0.93–0.99) — the 0.7 floor may rarely fire; per-reason breakdown decides if it stays.</a:t>
            </a:r>
          </a:p>
        </p:txBody>
      </p:sp>
      <p:sp>
        <p:nvSpPr>
          <p:cNvPr id="80" name="Shape 10"/>
          <p:cNvSpPr/>
          <p:nvPr/>
        </p:nvSpPr>
        <p:spPr>
          <a:xfrm>
            <a:off x="6376289" y="4695226"/>
            <a:ext cx="5394961" cy="1445630"/>
          </a:xfrm>
          <a:prstGeom prst="roundRect">
            <a:avLst>
              <a:gd name="adj" fmla="val 3795"/>
            </a:avLst>
          </a:prstGeom>
          <a:solidFill>
            <a:srgbClr val="17171C"/>
          </a:solidFill>
          <a:ln w="12700">
            <a:solidFill>
              <a:srgbClr val="F2A9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11"/>
          <p:cNvSpPr txBox="1"/>
          <p:nvPr/>
        </p:nvSpPr>
        <p:spPr>
          <a:xfrm>
            <a:off x="6433549" y="4258962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8" sz="1600">
                <a:solidFill>
                  <a:srgbClr val="F2A93B"/>
                </a:solidFill>
              </a:defRPr>
            </a:lvl1pPr>
          </a:lstStyle>
          <a:p>
            <a:pPr/>
            <a:r>
              <a:t>WHAT'S MISLEADING ABOUT THE HEADLINE NUMBER</a:t>
            </a:r>
          </a:p>
        </p:txBody>
      </p:sp>
      <p:sp>
        <p:nvSpPr>
          <p:cNvPr id="82" name="Text 12"/>
          <p:cNvSpPr txBox="1"/>
          <p:nvPr/>
        </p:nvSpPr>
        <p:spPr>
          <a:xfrm>
            <a:off x="6559169" y="4790418"/>
            <a:ext cx="5029201" cy="1255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9C9CE"/>
                </a:solidFill>
              </a:defRPr>
            </a:pPr>
            <a:r>
              <a:t>Small, self-labelled golden set (150 rows). </a:t>
            </a:r>
          </a:p>
          <a:p>
            <a:pPr>
              <a:lnSpc>
                <a:spcPct val="120000"/>
              </a:lnSpc>
              <a:defRPr sz="1400">
                <a:solidFill>
                  <a:srgbClr val="C9C9CE"/>
                </a:solidFill>
              </a:defRPr>
            </a:pPr>
            <a:r>
              <a:t>Escalation recall measured only on enumerated conditions. </a:t>
            </a:r>
          </a:p>
          <a:p>
            <a:pPr>
              <a:lnSpc>
                <a:spcPct val="120000"/>
              </a:lnSpc>
              <a:defRPr sz="1400">
                <a:solidFill>
                  <a:srgbClr val="C9C9CE"/>
                </a:solidFill>
              </a:defRPr>
            </a:pPr>
            <a:r>
              <a:t>Judge is an LLM too. </a:t>
            </a:r>
          </a:p>
          <a:p>
            <a:pPr>
              <a:lnSpc>
                <a:spcPct val="120000"/>
              </a:lnSpc>
              <a:defRPr sz="1400">
                <a:solidFill>
                  <a:srgbClr val="C9C9CE"/>
                </a:solidFill>
              </a:defRPr>
            </a:pPr>
            <a:r>
              <a:t>Uber's replies are mostly deflections, so similarity-to-Uber rewards the wrong thing.</a:t>
            </a:r>
          </a:p>
        </p:txBody>
      </p:sp>
      <p:pic>
        <p:nvPicPr>
          <p:cNvPr id="8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2997" y="340614"/>
            <a:ext cx="851084" cy="342901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Text 27"/>
          <p:cNvSpPr txBox="1"/>
          <p:nvPr/>
        </p:nvSpPr>
        <p:spPr>
          <a:xfrm>
            <a:off x="6536500" y="1326189"/>
            <a:ext cx="3657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60" sz="1600">
                <a:solidFill>
                  <a:srgbClr val="F2A93B"/>
                </a:solidFill>
              </a:defRPr>
            </a:lvl1pPr>
          </a:lstStyle>
          <a:p>
            <a:pPr/>
            <a:r>
              <a:t>REPO MAP</a:t>
            </a:r>
          </a:p>
        </p:txBody>
      </p:sp>
      <p:sp>
        <p:nvSpPr>
          <p:cNvPr id="85" name="Text 28"/>
          <p:cNvSpPr txBox="1"/>
          <p:nvPr/>
        </p:nvSpPr>
        <p:spPr>
          <a:xfrm>
            <a:off x="6494626" y="1745416"/>
            <a:ext cx="5394962" cy="205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pipeline/</a:t>
            </a:r>
            <a:r>
              <a:rPr b="0"/>
              <a:t>  11 modules — models, taxonomy, enrich, rules, retrieve, draft, check, run</a:t>
            </a:r>
            <a:endParaRPr b="0"/>
          </a:p>
          <a:p>
            <a:pPr>
              <a:lnSpc>
                <a:spcPct val="130000"/>
              </a:lnSpc>
              <a:defRPr b="1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eval/</a:t>
            </a:r>
            <a:r>
              <a:rPr b="0"/>
              <a:t>        run_eval.py, metrics.py, judge.py, kappa.py</a:t>
            </a:r>
            <a:endParaRPr b="0"/>
          </a:p>
          <a:p>
            <a:pPr>
              <a:lnSpc>
                <a:spcPct val="130000"/>
              </a:lnSpc>
              <a:defRPr b="1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tests/</a:t>
            </a:r>
            <a:r>
              <a:rPr b="0"/>
              <a:t>       100 pytest tests, fake LLM, no network, ~2s</a:t>
            </a:r>
            <a:endParaRPr b="0"/>
          </a:p>
          <a:p>
            <a:pPr>
              <a:lnSpc>
                <a:spcPct val="130000"/>
              </a:lnSpc>
              <a:defRPr b="1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docs/</a:t>
            </a:r>
            <a:r>
              <a:rPr b="0"/>
              <a:t>        PROJECT_PLAN, DECISIONS (47 entries), TRACE_SPEC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3"/>
          <p:cNvSpPr txBox="1"/>
          <p:nvPr/>
        </p:nvSpPr>
        <p:spPr>
          <a:xfrm>
            <a:off x="548640" y="685416"/>
            <a:ext cx="8229601" cy="32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6161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Small, typed, explainable live</a:t>
            </a:r>
          </a:p>
        </p:txBody>
      </p:sp>
      <p:sp>
        <p:nvSpPr>
          <p:cNvPr id="88" name="Shape 4"/>
          <p:cNvSpPr/>
          <p:nvPr/>
        </p:nvSpPr>
        <p:spPr>
          <a:xfrm>
            <a:off x="548640" y="1417319"/>
            <a:ext cx="5394960" cy="2331722"/>
          </a:xfrm>
          <a:prstGeom prst="roundRect">
            <a:avLst>
              <a:gd name="adj" fmla="val 2353"/>
            </a:avLst>
          </a:prstGeom>
          <a:solidFill>
            <a:srgbClr val="16161B"/>
          </a:solidFill>
          <a:ln w="12700">
            <a:solidFill>
              <a:srgbClr val="1616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5"/>
          <p:cNvSpPr txBox="1"/>
          <p:nvPr/>
        </p:nvSpPr>
        <p:spPr>
          <a:xfrm>
            <a:off x="777239" y="1568196"/>
            <a:ext cx="49377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pipeline/rules.py</a:t>
            </a:r>
          </a:p>
        </p:txBody>
      </p:sp>
      <p:sp>
        <p:nvSpPr>
          <p:cNvPr id="90" name="Text 6"/>
          <p:cNvSpPr txBox="1"/>
          <p:nvPr/>
        </p:nvSpPr>
        <p:spPr>
          <a:xfrm>
            <a:off x="777239" y="1870075"/>
            <a:ext cx="4937762" cy="174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RULES = [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("safety", lambda e: e.entities.mentions_safety),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("legal", lambda e: e.entities.mentions_legal),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("amount_over", lambda e: (e.entities.amount or 0)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           &gt; AMOUNT_LIMIT),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("urgent", lambda e: e.urgency == "high"),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("repeat_contact", lambda e: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       e.entities.is_repeat_contact),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("low_confidence", lambda e: e.confidence &lt; 0.7),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("not_allowed", lambda e: e.intent not in AUTO_ALLOW),</a:t>
            </a:r>
          </a:p>
          <a:p>
            <a:pPr>
              <a:lnSpc>
                <a:spcPct val="115000"/>
              </a:lnSpc>
              <a:defRPr sz="1000">
                <a:solidFill>
                  <a:srgbClr val="D8D8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]</a:t>
            </a:r>
          </a:p>
        </p:txBody>
      </p:sp>
      <p:sp>
        <p:nvSpPr>
          <p:cNvPr id="91" name="Shape 7"/>
          <p:cNvSpPr/>
          <p:nvPr/>
        </p:nvSpPr>
        <p:spPr>
          <a:xfrm>
            <a:off x="6217920" y="1417319"/>
            <a:ext cx="4480560" cy="2062108"/>
          </a:xfrm>
          <a:prstGeom prst="roundRect">
            <a:avLst>
              <a:gd name="adj" fmla="val 2661"/>
            </a:avLst>
          </a:prstGeom>
          <a:solidFill>
            <a:srgbClr val="F6F5F1"/>
          </a:solidFill>
          <a:ln>
            <a:solidFill>
              <a:srgbClr val="E4E3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8"/>
          <p:cNvSpPr txBox="1"/>
          <p:nvPr/>
        </p:nvSpPr>
        <p:spPr>
          <a:xfrm>
            <a:off x="6279027" y="1115487"/>
            <a:ext cx="402336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6161B"/>
                </a:solidFill>
              </a:defRPr>
            </a:lvl1pPr>
          </a:lstStyle>
          <a:p>
            <a:pPr/>
            <a:r>
              <a:t>100 tests, offline</a:t>
            </a:r>
          </a:p>
        </p:txBody>
      </p:sp>
      <p:sp>
        <p:nvSpPr>
          <p:cNvPr id="93" name="Text 9"/>
          <p:cNvSpPr txBox="1"/>
          <p:nvPr/>
        </p:nvSpPr>
        <p:spPr>
          <a:xfrm>
            <a:off x="6446520" y="1612646"/>
            <a:ext cx="4023360" cy="1663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3A3D4A"/>
                </a:solidFill>
              </a:defRPr>
            </a:pPr>
            <a:r>
              <a:t>• Fake Groq client, no network</a:t>
            </a:r>
          </a:p>
          <a:p>
            <a:pPr>
              <a:lnSpc>
                <a:spcPct val="135000"/>
              </a:lnSpc>
              <a:defRPr sz="1400">
                <a:solidFill>
                  <a:srgbClr val="3A3D4A"/>
                </a:solidFill>
              </a:defRPr>
            </a:pPr>
            <a:r>
              <a:t>• Every rule tested in order</a:t>
            </a:r>
          </a:p>
          <a:p>
            <a:pPr>
              <a:lnSpc>
                <a:spcPct val="135000"/>
              </a:lnSpc>
              <a:defRPr sz="1400">
                <a:solidFill>
                  <a:srgbClr val="3A3D4A"/>
                </a:solidFill>
              </a:defRPr>
            </a:pPr>
            <a:r>
              <a:t>• run() tested on escalate, auto, unsafe-draft, empty-draft, other</a:t>
            </a:r>
          </a:p>
          <a:p>
            <a:pPr>
              <a:lnSpc>
                <a:spcPct val="135000"/>
              </a:lnSpc>
              <a:defRPr sz="1400">
                <a:solidFill>
                  <a:srgbClr val="3A3D4A"/>
                </a:solidFill>
              </a:defRPr>
            </a:pPr>
            <a:r>
              <a:t>• Trace shape asserted (8 keys, 1 row per rule)</a:t>
            </a:r>
          </a:p>
          <a:p>
            <a:pPr>
              <a:lnSpc>
                <a:spcPct val="135000"/>
              </a:lnSpc>
              <a:defRPr sz="1400">
                <a:solidFill>
                  <a:srgbClr val="3A3D4A"/>
                </a:solidFill>
              </a:defRPr>
            </a:pPr>
            <a:r>
              <a:t>• ~2 seconds, full suite</a:t>
            </a:r>
          </a:p>
        </p:txBody>
      </p:sp>
      <p:sp>
        <p:nvSpPr>
          <p:cNvPr id="94" name="Shape 10"/>
          <p:cNvSpPr/>
          <p:nvPr/>
        </p:nvSpPr>
        <p:spPr>
          <a:xfrm>
            <a:off x="548640" y="3977640"/>
            <a:ext cx="10149841" cy="1417321"/>
          </a:xfrm>
          <a:prstGeom prst="roundRect">
            <a:avLst>
              <a:gd name="adj" fmla="val 3871"/>
            </a:avLst>
          </a:prstGeom>
          <a:solidFill>
            <a:srgbClr val="0B0B0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11"/>
          <p:cNvSpPr txBox="1"/>
          <p:nvPr/>
        </p:nvSpPr>
        <p:spPr>
          <a:xfrm>
            <a:off x="822960" y="4143696"/>
            <a:ext cx="9601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" sz="1600">
                <a:solidFill>
                  <a:srgbClr val="F2A93B"/>
                </a:solidFill>
              </a:defRPr>
            </a:lvl1pPr>
          </a:lstStyle>
          <a:p>
            <a:pPr/>
            <a:r>
              <a:t>REPRODUCE IN UNDER 15 MINUTES — NO API KEYS</a:t>
            </a:r>
          </a:p>
        </p:txBody>
      </p:sp>
      <p:sp>
        <p:nvSpPr>
          <p:cNvPr id="96" name="Text 12"/>
          <p:cNvSpPr txBox="1"/>
          <p:nvPr/>
        </p:nvSpPr>
        <p:spPr>
          <a:xfrm>
            <a:off x="822960" y="4741156"/>
            <a:ext cx="9601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clone → docker compose run --rm -e CACHE_ONLY=1 api python eval/run_eval.py</a:t>
            </a:r>
          </a:p>
        </p:txBody>
      </p:sp>
      <p:pic>
        <p:nvPicPr>
          <p:cNvPr id="9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2997" y="340614"/>
            <a:ext cx="851084" cy="342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